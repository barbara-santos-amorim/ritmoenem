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58" r:id="rId3"/>
    <p:sldId id="268" r:id="rId4"/>
    <p:sldId id="269" r:id="rId5"/>
    <p:sldId id="260" r:id="rId6"/>
    <p:sldId id="259" r:id="rId7"/>
    <p:sldId id="261" r:id="rId8"/>
    <p:sldId id="270" r:id="rId9"/>
    <p:sldId id="271" r:id="rId10"/>
    <p:sldId id="263" r:id="rId11"/>
    <p:sldId id="272" r:id="rId12"/>
    <p:sldId id="264" r:id="rId13"/>
    <p:sldId id="265" r:id="rId14"/>
    <p:sldId id="266" r:id="rId15"/>
    <p:sldId id="273" r:id="rId16"/>
    <p:sldId id="267" r:id="rId17"/>
    <p:sldId id="274" r:id="rId18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00CC00"/>
    <a:srgbClr val="33CC33"/>
    <a:srgbClr val="CCFF99"/>
    <a:srgbClr val="66FF33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1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a4fcc19f4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a4fcc19f4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4fcc19f4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4fcc19f4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4fcc19f4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4fcc19f4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4fcc19f4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4fcc19f4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4fcc19f4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4fcc19f4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4fcc19f4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4fcc19f4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4fcc19f4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4fcc19f4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4fcc19f4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4fcc19f4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4fcc19f4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4fcc19f4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4fcc19f4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4fcc19f4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ee55bbc0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ee55bbc0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ee55bbc00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ee55bbc00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ee55bbc00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ee55bbc00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ee55bbc00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ee55bbc00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e55bbc00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e55bbc00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e55bbc00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e55bbc00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144000" y="4663225"/>
            <a:ext cx="44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20000" y="180000"/>
            <a:ext cx="396000" cy="324000"/>
          </a:xfrm>
          <a:prstGeom prst="rect">
            <a:avLst/>
          </a:prstGeom>
          <a:solidFill>
            <a:srgbClr val="3FA535"/>
          </a:solidFill>
          <a:ln w="9525" cap="flat" cmpd="sng">
            <a:solidFill>
              <a:srgbClr val="3FA5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000" y="108000"/>
            <a:ext cx="720001" cy="10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1">
  <p:cSld name="TITLE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2">
  <p:cSld name="TITLE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3">
  <p:cSld name="TITLE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4">
  <p:cSld name="TITLE_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Font typeface="Open Sans"/>
              <a:buNone/>
              <a:defRPr sz="2800">
                <a:solidFill>
                  <a:srgbClr val="00A2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A249"/>
              </a:buClr>
              <a:buSzPts val="2800"/>
              <a:buNone/>
              <a:defRPr sz="2800">
                <a:solidFill>
                  <a:srgbClr val="00A249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A535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A535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304800"/>
            <a:ext cx="519470" cy="1402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6" r:id="rId5"/>
    <p:sldLayoutId id="2147483657" r:id="rId6"/>
    <p:sldLayoutId id="2147483659" r:id="rId7"/>
    <p:sldLayoutId id="2147483660" r:id="rId8"/>
    <p:sldLayoutId id="2147483661" r:id="rId9"/>
    <p:sldLayoutId id="2147483662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 Sistema Gerenciador de Banco de Dados</a:t>
            </a:r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311700" y="332879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Cristiane </a:t>
            </a:r>
            <a:r>
              <a:rPr lang="pt-BR" dirty="0" err="1"/>
              <a:t>Norbiato</a:t>
            </a:r>
            <a:r>
              <a:rPr lang="pt-BR" dirty="0"/>
              <a:t> </a:t>
            </a:r>
            <a:r>
              <a:rPr lang="pt-BR" dirty="0" err="1"/>
              <a:t>Targa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cristiane.targa@ifmg.edu.br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2"/>
          </p:nvPr>
        </p:nvSpPr>
        <p:spPr>
          <a:xfrm>
            <a:off x="144000" y="4663225"/>
            <a:ext cx="440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Relacional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595400" y="1968700"/>
            <a:ext cx="77796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Modelo Lógico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Derivado do MER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Entidade -&gt; Tabelas - também chamado de RELAÇÃO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Atributos -&gt; Campos - possui domínio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Atributo Identificador -&gt; Chave Primária (Primary Key - PK)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Atributo Identificador  de uma outra tabela -&gt; Chave Estrangeira (Foreign Key) - depende da cardinalidade.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0450" y="1155235"/>
            <a:ext cx="7023100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6" name="Google Shape;86;p16"/>
          <p:cNvSpPr txBox="1"/>
          <p:nvPr/>
        </p:nvSpPr>
        <p:spPr>
          <a:xfrm>
            <a:off x="3836623" y="3480150"/>
            <a:ext cx="14211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Tabela</a:t>
            </a:r>
            <a:endParaRPr sz="2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 rot="10800000">
            <a:off x="2668250" y="2878111"/>
            <a:ext cx="1184225" cy="906904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6"/>
          <p:cNvCxnSpPr/>
          <p:nvPr/>
        </p:nvCxnSpPr>
        <p:spPr>
          <a:xfrm rot="5400000" flipH="1" flipV="1">
            <a:off x="4968334" y="2900076"/>
            <a:ext cx="982240" cy="803406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6"/>
          <p:cNvCxnSpPr/>
          <p:nvPr/>
        </p:nvCxnSpPr>
        <p:spPr>
          <a:xfrm rot="16200000" flipV="1">
            <a:off x="3937871" y="3203361"/>
            <a:ext cx="913803" cy="24674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CaixaDeTexto 14"/>
          <p:cNvSpPr txBox="1"/>
          <p:nvPr/>
        </p:nvSpPr>
        <p:spPr>
          <a:xfrm>
            <a:off x="3627620" y="479685"/>
            <a:ext cx="3844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Atributo Multivalorado – gera uma nova tabela</a:t>
            </a:r>
          </a:p>
        </p:txBody>
      </p:sp>
      <p:sp>
        <p:nvSpPr>
          <p:cNvPr id="16" name="Forma livre 15"/>
          <p:cNvSpPr/>
          <p:nvPr/>
        </p:nvSpPr>
        <p:spPr>
          <a:xfrm>
            <a:off x="2971800" y="637082"/>
            <a:ext cx="640830" cy="652072"/>
          </a:xfrm>
          <a:custGeom>
            <a:avLst/>
            <a:gdLst>
              <a:gd name="connsiteX0" fmla="*/ 640830 w 640830"/>
              <a:gd name="connsiteY0" fmla="*/ 0 h 652072"/>
              <a:gd name="connsiteX1" fmla="*/ 56213 w 640830"/>
              <a:gd name="connsiteY1" fmla="*/ 209862 h 652072"/>
              <a:gd name="connsiteX2" fmla="*/ 303551 w 640830"/>
              <a:gd name="connsiteY2" fmla="*/ 652072 h 652072"/>
              <a:gd name="connsiteX3" fmla="*/ 303551 w 640830"/>
              <a:gd name="connsiteY3" fmla="*/ 652072 h 652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830" h="652072">
                <a:moveTo>
                  <a:pt x="640830" y="0"/>
                </a:moveTo>
                <a:cubicBezTo>
                  <a:pt x="376628" y="50591"/>
                  <a:pt x="112426" y="101183"/>
                  <a:pt x="56213" y="209862"/>
                </a:cubicBezTo>
                <a:cubicBezTo>
                  <a:pt x="0" y="318541"/>
                  <a:pt x="303551" y="652072"/>
                  <a:pt x="303551" y="652072"/>
                </a:cubicBezTo>
                <a:lnTo>
                  <a:pt x="303551" y="652072"/>
                </a:ln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4769360" y="1186715"/>
            <a:ext cx="3348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Atributo Composto – Coloca apenas os </a:t>
            </a:r>
          </a:p>
          <a:p>
            <a:r>
              <a:rPr lang="pt-BR" dirty="0">
                <a:solidFill>
                  <a:srgbClr val="FF0000"/>
                </a:solidFill>
              </a:rPr>
              <a:t>atributos simples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492312" y="1553980"/>
            <a:ext cx="2651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Atributos de relacionamentos –</a:t>
            </a:r>
          </a:p>
          <a:p>
            <a:r>
              <a:rPr lang="pt-BR" dirty="0">
                <a:solidFill>
                  <a:srgbClr val="FF0000"/>
                </a:solidFill>
              </a:rPr>
              <a:t> seguem a cardinalidade</a:t>
            </a:r>
          </a:p>
        </p:txBody>
      </p:sp>
      <p:sp>
        <p:nvSpPr>
          <p:cNvPr id="20" name="Forma livre 19"/>
          <p:cNvSpPr/>
          <p:nvPr/>
        </p:nvSpPr>
        <p:spPr>
          <a:xfrm>
            <a:off x="4976734" y="1761344"/>
            <a:ext cx="1528997" cy="187377"/>
          </a:xfrm>
          <a:custGeom>
            <a:avLst/>
            <a:gdLst>
              <a:gd name="connsiteX0" fmla="*/ 1528997 w 1528997"/>
              <a:gd name="connsiteY0" fmla="*/ 0 h 187377"/>
              <a:gd name="connsiteX1" fmla="*/ 652073 w 1528997"/>
              <a:gd name="connsiteY1" fmla="*/ 59961 h 187377"/>
              <a:gd name="connsiteX2" fmla="*/ 0 w 1528997"/>
              <a:gd name="connsiteY2" fmla="*/ 187377 h 1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8997" h="187377">
                <a:moveTo>
                  <a:pt x="1528997" y="0"/>
                </a:moveTo>
                <a:cubicBezTo>
                  <a:pt x="1217951" y="14366"/>
                  <a:pt x="906906" y="28732"/>
                  <a:pt x="652073" y="59961"/>
                </a:cubicBezTo>
                <a:cubicBezTo>
                  <a:pt x="397240" y="91191"/>
                  <a:pt x="198620" y="139284"/>
                  <a:pt x="0" y="187377"/>
                </a:cubicBezTo>
              </a:path>
            </a:pathLst>
          </a:cu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Modelo Relacional – Modelo Lógico</a:t>
            </a:r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4419" y="1766941"/>
            <a:ext cx="5876145" cy="3257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aixaDeTexto 5"/>
          <p:cNvSpPr txBox="1"/>
          <p:nvPr/>
        </p:nvSpPr>
        <p:spPr>
          <a:xfrm>
            <a:off x="5119142" y="4377128"/>
            <a:ext cx="4213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Obs.: </a:t>
            </a:r>
            <a:r>
              <a:rPr lang="pt-BR" dirty="0" err="1">
                <a:solidFill>
                  <a:srgbClr val="FF0000"/>
                </a:solidFill>
              </a:rPr>
              <a:t>Qdo</a:t>
            </a:r>
            <a:r>
              <a:rPr lang="pt-BR" dirty="0">
                <a:solidFill>
                  <a:srgbClr val="FF0000"/>
                </a:solidFill>
              </a:rPr>
              <a:t> se faz automático, pode ser necessário </a:t>
            </a:r>
          </a:p>
          <a:p>
            <a:r>
              <a:rPr lang="pt-BR" dirty="0">
                <a:solidFill>
                  <a:srgbClr val="FF0000"/>
                </a:solidFill>
              </a:rPr>
              <a:t>algumas alterações. SEMPRE VERIFICAR!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Relacional</a:t>
            </a: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595400" y="1968700"/>
            <a:ext cx="77796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Cliente (</a:t>
            </a:r>
            <a:r>
              <a:rPr lang="pt-BR" u="sng" dirty="0"/>
              <a:t>Código-Cliente</a:t>
            </a:r>
            <a:r>
              <a:rPr lang="pt-BR" dirty="0"/>
              <a:t>, nome, rua, numero)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Produto (</a:t>
            </a:r>
            <a:r>
              <a:rPr lang="pt-BR" u="sng" dirty="0"/>
              <a:t>Código-Produto</a:t>
            </a:r>
            <a:r>
              <a:rPr lang="pt-BR" dirty="0"/>
              <a:t>, nome,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valor_unitario</a:t>
            </a:r>
            <a:r>
              <a:rPr lang="pt-BR" dirty="0"/>
              <a:t>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Compra (</a:t>
            </a:r>
            <a:r>
              <a:rPr lang="pt-BR" u="sng" dirty="0" err="1"/>
              <a:t>Código_Cliente</a:t>
            </a:r>
            <a:r>
              <a:rPr lang="pt-BR" u="sng" dirty="0"/>
              <a:t>*, </a:t>
            </a:r>
            <a:r>
              <a:rPr lang="pt-BR" u="sng" dirty="0" err="1"/>
              <a:t>Codigo_Produto</a:t>
            </a:r>
            <a:r>
              <a:rPr lang="pt-BR" u="sng" dirty="0"/>
              <a:t>*, </a:t>
            </a:r>
            <a:r>
              <a:rPr lang="pt-BR" dirty="0"/>
              <a:t>data, </a:t>
            </a:r>
            <a:r>
              <a:rPr lang="pt-BR" dirty="0" err="1"/>
              <a:t>qtde</a:t>
            </a:r>
            <a:r>
              <a:rPr lang="pt-BR" dirty="0"/>
              <a:t>)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Telefone </a:t>
            </a:r>
            <a:r>
              <a:rPr lang="pt-BR" u="sng" dirty="0"/>
              <a:t>(Telefone,  Código-Cliente*)</a:t>
            </a:r>
            <a:endParaRPr u="sng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4105" y="1108280"/>
            <a:ext cx="7340600" cy="351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6" name="Google Shape;86;p16"/>
          <p:cNvSpPr txBox="1"/>
          <p:nvPr/>
        </p:nvSpPr>
        <p:spPr>
          <a:xfrm>
            <a:off x="3814138" y="237625"/>
            <a:ext cx="14211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Tabela</a:t>
            </a:r>
            <a:endParaRPr sz="2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p16"/>
          <p:cNvCxnSpPr>
            <a:stCxn id="86" idx="1"/>
          </p:cNvCxnSpPr>
          <p:nvPr/>
        </p:nvCxnSpPr>
        <p:spPr>
          <a:xfrm flipH="1">
            <a:off x="2474038" y="665575"/>
            <a:ext cx="1340100" cy="12354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6"/>
          <p:cNvCxnSpPr/>
          <p:nvPr/>
        </p:nvCxnSpPr>
        <p:spPr>
          <a:xfrm rot="16200000" flipH="1">
            <a:off x="4851608" y="856729"/>
            <a:ext cx="1350602" cy="968293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6"/>
          <p:cNvCxnSpPr/>
          <p:nvPr/>
        </p:nvCxnSpPr>
        <p:spPr>
          <a:xfrm flipH="1">
            <a:off x="4472375" y="740775"/>
            <a:ext cx="28200" cy="1425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6"/>
          <p:cNvCxnSpPr/>
          <p:nvPr/>
        </p:nvCxnSpPr>
        <p:spPr>
          <a:xfrm rot="10800000">
            <a:off x="3987876" y="4220974"/>
            <a:ext cx="1790832" cy="336037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p16"/>
          <p:cNvCxnSpPr/>
          <p:nvPr/>
        </p:nvCxnSpPr>
        <p:spPr>
          <a:xfrm rot="10800000">
            <a:off x="2068643" y="4339652"/>
            <a:ext cx="3759732" cy="202848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6"/>
          <p:cNvSpPr txBox="1"/>
          <p:nvPr/>
        </p:nvSpPr>
        <p:spPr>
          <a:xfrm>
            <a:off x="6007190" y="3913675"/>
            <a:ext cx="31368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Pode gerar tabelas individuais ou não</a:t>
            </a:r>
            <a:endParaRPr sz="2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49710" y="1553164"/>
            <a:ext cx="4894289" cy="3590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Modelo Relacional -  Primeira possibilidade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0" y="1878759"/>
            <a:ext cx="4137285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Cliente (</a:t>
            </a:r>
            <a:r>
              <a:rPr lang="pt-BR" u="sng" dirty="0"/>
              <a:t>Código-Cliente</a:t>
            </a:r>
            <a:r>
              <a:rPr lang="pt-BR" dirty="0"/>
              <a:t>, nome, rua, numero, </a:t>
            </a:r>
            <a:r>
              <a:rPr lang="pt-BR" u="sng" dirty="0"/>
              <a:t>CNPJ, CPF</a:t>
            </a:r>
            <a:r>
              <a:rPr lang="pt-BR" dirty="0"/>
              <a:t>) </a:t>
            </a:r>
            <a:endParaRPr/>
          </a:p>
          <a:p>
            <a:pPr lvl="0">
              <a:buChar char="-"/>
            </a:pPr>
            <a:r>
              <a:rPr lang="pt-BR" dirty="0"/>
              <a:t>Produto (</a:t>
            </a:r>
            <a:r>
              <a:rPr lang="pt-BR" u="sng" dirty="0"/>
              <a:t>Código-Produto</a:t>
            </a:r>
            <a:r>
              <a:rPr lang="pt-BR" dirty="0"/>
              <a:t>, nome,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valor_unitario</a:t>
            </a:r>
            <a:r>
              <a:rPr lang="pt-BR" dirty="0"/>
              <a:t>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dirty="0"/>
              <a:t>Compra (</a:t>
            </a:r>
            <a:r>
              <a:rPr lang="pt-BR" u="sng" dirty="0" err="1"/>
              <a:t>Código_Cliente</a:t>
            </a:r>
            <a:r>
              <a:rPr lang="pt-BR" u="sng" dirty="0"/>
              <a:t>*, </a:t>
            </a:r>
            <a:r>
              <a:rPr lang="pt-BR" u="sng" dirty="0" err="1"/>
              <a:t>Codigo_Produto</a:t>
            </a:r>
            <a:r>
              <a:rPr lang="pt-BR" u="sng" dirty="0"/>
              <a:t>*, </a:t>
            </a:r>
            <a:r>
              <a:rPr lang="pt-BR" dirty="0"/>
              <a:t>data, </a:t>
            </a:r>
            <a:r>
              <a:rPr lang="pt-BR" dirty="0" err="1"/>
              <a:t>qtde</a:t>
            </a:r>
            <a:r>
              <a:rPr lang="pt-BR" u="sng" dirty="0"/>
              <a:t>) </a:t>
            </a:r>
          </a:p>
          <a:p>
            <a:pPr lvl="0">
              <a:buChar char="-"/>
            </a:pPr>
            <a:r>
              <a:rPr lang="pt-BR" dirty="0"/>
              <a:t>Telefone </a:t>
            </a:r>
            <a:r>
              <a:rPr lang="pt-BR" u="sng" dirty="0"/>
              <a:t>(Telefone,  Código-Cliente*)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endParaRPr u="sng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1856854"/>
            <a:ext cx="624840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Modelo Relacional -  Segunda possibilidade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0" y="1751344"/>
            <a:ext cx="4137285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Cliente (</a:t>
            </a:r>
            <a:r>
              <a:rPr lang="pt-BR" u="sng" dirty="0"/>
              <a:t>Código-Cliente</a:t>
            </a:r>
            <a:r>
              <a:rPr lang="pt-BR" dirty="0"/>
              <a:t>, nome, rua, numero) </a:t>
            </a:r>
            <a:endParaRPr/>
          </a:p>
          <a:p>
            <a:pPr lvl="0">
              <a:buNone/>
            </a:pPr>
            <a:r>
              <a:rPr lang="pt-BR" dirty="0"/>
              <a:t>Produto (</a:t>
            </a:r>
            <a:r>
              <a:rPr lang="pt-BR" u="sng" dirty="0"/>
              <a:t>Código-Produto</a:t>
            </a:r>
            <a:r>
              <a:rPr lang="pt-BR" dirty="0"/>
              <a:t>, nome, </a:t>
            </a:r>
            <a:r>
              <a:rPr lang="pt-BR" dirty="0" err="1"/>
              <a:t>descricao</a:t>
            </a:r>
            <a:r>
              <a:rPr lang="pt-BR" dirty="0"/>
              <a:t>, </a:t>
            </a:r>
            <a:r>
              <a:rPr lang="pt-BR" dirty="0" err="1"/>
              <a:t>valor_unitario</a:t>
            </a:r>
            <a:r>
              <a:rPr lang="pt-BR" dirty="0"/>
              <a:t>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/>
              <a:t>Compra (</a:t>
            </a:r>
            <a:r>
              <a:rPr lang="pt-BR" u="sng" dirty="0" err="1"/>
              <a:t>Código_Cliente</a:t>
            </a:r>
            <a:r>
              <a:rPr lang="pt-BR" u="sng" dirty="0"/>
              <a:t>*, </a:t>
            </a:r>
            <a:r>
              <a:rPr lang="pt-BR" u="sng" dirty="0" err="1"/>
              <a:t>Codigo_Produto</a:t>
            </a:r>
            <a:r>
              <a:rPr lang="pt-BR" u="sng" dirty="0"/>
              <a:t>*, </a:t>
            </a:r>
            <a:r>
              <a:rPr lang="pt-BR" dirty="0"/>
              <a:t>data, </a:t>
            </a:r>
            <a:r>
              <a:rPr lang="pt-BR" dirty="0" err="1"/>
              <a:t>qtde</a:t>
            </a:r>
            <a:r>
              <a:rPr lang="pt-BR" u="sng" dirty="0"/>
              <a:t>) </a:t>
            </a:r>
          </a:p>
          <a:p>
            <a:pPr lvl="0">
              <a:buNone/>
            </a:pPr>
            <a:r>
              <a:rPr lang="pt-BR" dirty="0"/>
              <a:t>Telefone </a:t>
            </a:r>
            <a:r>
              <a:rPr lang="pt-BR" u="sng" dirty="0"/>
              <a:t>(Telefone,  Código-Cliente*)</a:t>
            </a:r>
          </a:p>
          <a:p>
            <a:pPr lvl="0">
              <a:buNone/>
            </a:pPr>
            <a:r>
              <a:rPr lang="pt-BR" u="sng" dirty="0" err="1"/>
              <a:t>Fisica</a:t>
            </a:r>
            <a:r>
              <a:rPr lang="pt-BR" u="sng" dirty="0"/>
              <a:t> (CPF, </a:t>
            </a:r>
            <a:r>
              <a:rPr lang="pt-BR" u="sng" dirty="0" err="1"/>
              <a:t>Codigo_Cliente</a:t>
            </a:r>
            <a:r>
              <a:rPr lang="pt-BR" u="sng" dirty="0"/>
              <a:t>*)</a:t>
            </a:r>
          </a:p>
          <a:p>
            <a:pPr lvl="0">
              <a:buNone/>
            </a:pPr>
            <a:r>
              <a:rPr lang="pt-BR" u="sng" dirty="0" err="1"/>
              <a:t>Juridica</a:t>
            </a:r>
            <a:r>
              <a:rPr lang="pt-BR" u="sng" dirty="0"/>
              <a:t> (CNPJ, </a:t>
            </a:r>
            <a:r>
              <a:rPr lang="pt-BR" u="sng" dirty="0" err="1"/>
              <a:t>Codigo_Cliente</a:t>
            </a:r>
            <a:r>
              <a:rPr lang="pt-BR" u="sng" dirty="0"/>
              <a:t>*)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endParaRPr u="sng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Modelo Relacional -  Terceira possibilidade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0" y="1751344"/>
            <a:ext cx="8327036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 dirty="0"/>
              <a:t>Caso a tabela Generalizada não tiver relacionamento, pode-se criar apenas as tabelas Especializadas.</a:t>
            </a:r>
            <a:endParaRPr lang="pt-BR" sz="3200" u="sng" dirty="0"/>
          </a:p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endParaRPr sz="3200" u="sng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0297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Google Shape;117;p20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1:N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20"/>
          <p:cNvCxnSpPr>
            <a:endCxn id="121" idx="1"/>
          </p:cNvCxnSpPr>
          <p:nvPr/>
        </p:nvCxnSpPr>
        <p:spPr>
          <a:xfrm rot="10800000" flipH="1">
            <a:off x="4738050" y="2901850"/>
            <a:ext cx="1034400" cy="350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" name="Google Shape;121;p20"/>
          <p:cNvSpPr txBox="1"/>
          <p:nvPr/>
        </p:nvSpPr>
        <p:spPr>
          <a:xfrm>
            <a:off x="5772450" y="2473900"/>
            <a:ext cx="19428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Chave estrangeira</a:t>
            </a:r>
            <a:endParaRPr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649250" y="2727800"/>
            <a:ext cx="4933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Modelo Relacional: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-"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Aluno(</a:t>
            </a:r>
            <a:r>
              <a:rPr lang="pt-BR" u="sng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nome, Sexo</a:t>
            </a:r>
            <a:r>
              <a:rPr lang="pt-BR" u="sng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 </a:t>
            </a:r>
            <a:r>
              <a:rPr lang="pt-BR" u="sng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Codigo_Curso</a:t>
            </a:r>
            <a:r>
              <a:rPr lang="pt-BR" u="sng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-"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Curso(</a:t>
            </a:r>
            <a:r>
              <a:rPr lang="pt-BR" u="sng" dirty="0" err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Código_curso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nome, </a:t>
            </a:r>
            <a:r>
              <a:rPr lang="pt-BR" dirty="0" err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CH_horaria_total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756285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" name="Google Shape;117;p20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1:N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" name="Google Shape;120;p20"/>
          <p:cNvCxnSpPr>
            <a:endCxn id="121" idx="1"/>
          </p:cNvCxnSpPr>
          <p:nvPr/>
        </p:nvCxnSpPr>
        <p:spPr>
          <a:xfrm rot="10800000" flipH="1">
            <a:off x="4738050" y="2901850"/>
            <a:ext cx="1034400" cy="350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" name="Google Shape;121;p20"/>
          <p:cNvSpPr txBox="1"/>
          <p:nvPr/>
        </p:nvSpPr>
        <p:spPr>
          <a:xfrm>
            <a:off x="5772450" y="2473900"/>
            <a:ext cx="19428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Chave estrangeira</a:t>
            </a:r>
            <a:endParaRPr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649250" y="2727800"/>
            <a:ext cx="4933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Modelo Relacional: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-"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Aluno(</a:t>
            </a:r>
            <a:r>
              <a:rPr lang="pt-BR" u="sng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nome, Sexo</a:t>
            </a:r>
            <a:r>
              <a:rPr lang="pt-BR" u="sng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 </a:t>
            </a:r>
            <a:r>
              <a:rPr lang="pt-BR" u="sng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Codigo_Curso</a:t>
            </a:r>
            <a:r>
              <a:rPr lang="pt-BR" u="sng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-"/>
            </a:pP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Curso(</a:t>
            </a:r>
            <a:r>
              <a:rPr lang="pt-BR" u="sng" dirty="0" err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Código_curso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nome, </a:t>
            </a:r>
            <a:r>
              <a:rPr lang="pt-BR" dirty="0" err="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CH_horaria_total</a:t>
            </a:r>
            <a:r>
              <a:rPr lang="pt-BR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220" y="119922"/>
            <a:ext cx="80581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7" name="Google Shape;127;p21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1:1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1150"/>
            <a:ext cx="3550804" cy="18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5604" y="3121150"/>
            <a:ext cx="29813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220" y="119922"/>
            <a:ext cx="80581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6" name="Google Shape;136;p22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1:1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1150"/>
            <a:ext cx="2418739" cy="18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3549" y="3121150"/>
            <a:ext cx="4649575" cy="14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220" y="119922"/>
            <a:ext cx="80581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5" name="Google Shape;145;p23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1:1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793925" y="3784050"/>
            <a:ext cx="73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Funcionário (</a:t>
            </a:r>
            <a:r>
              <a:rPr lang="pt-BR" u="sng"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, Nome, Salario)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Departamento (</a:t>
            </a:r>
            <a:r>
              <a:rPr lang="pt-BR" u="sng">
                <a:latin typeface="Roboto"/>
                <a:ea typeface="Roboto"/>
                <a:cs typeface="Roboto"/>
                <a:sym typeface="Roboto"/>
              </a:rPr>
              <a:t>Codigo-dep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, Nome, </a:t>
            </a:r>
            <a:r>
              <a:rPr lang="pt-BR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Matrícula_gerente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5772450" y="2473900"/>
            <a:ext cx="19428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Chave estrangeira</a:t>
            </a:r>
            <a:endParaRPr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" name="Google Shape;150;p23"/>
          <p:cNvCxnSpPr/>
          <p:nvPr/>
        </p:nvCxnSpPr>
        <p:spPr>
          <a:xfrm rot="10800000" flipH="1">
            <a:off x="5591975" y="2859025"/>
            <a:ext cx="672600" cy="1191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828" y="239999"/>
            <a:ext cx="584835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5" name="Google Shape;145;p23"/>
          <p:cNvSpPr txBox="1"/>
          <p:nvPr/>
        </p:nvSpPr>
        <p:spPr>
          <a:xfrm>
            <a:off x="2431975" y="2112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Cardionalidade 1:1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793925" y="3784050"/>
            <a:ext cx="73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Funcionário (</a:t>
            </a:r>
            <a:r>
              <a:rPr lang="pt-BR" u="sng"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, Nome, Salario)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Departamento (</a:t>
            </a:r>
            <a:r>
              <a:rPr lang="pt-BR" u="sng">
                <a:latin typeface="Roboto"/>
                <a:ea typeface="Roboto"/>
                <a:cs typeface="Roboto"/>
                <a:sym typeface="Roboto"/>
              </a:rPr>
              <a:t>Codigo-dep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, Nome, </a:t>
            </a:r>
            <a:r>
              <a:rPr lang="pt-BR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Matrícula_gerente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5556175" y="2874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Entidade Fraca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793925" y="3784050"/>
            <a:ext cx="73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Funcionário (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Nome_Funcionario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Salario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Dependente(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Código, </a:t>
            </a:r>
            <a:r>
              <a:rPr lang="pt-BR" u="sng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Matrícula_funcionario</a:t>
            </a:r>
            <a:r>
              <a:rPr lang="pt-BR" u="sng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Nome_Dedendente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parentesco)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4074300" y="4399650"/>
            <a:ext cx="49512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Chave estrangeira que compõe a chave primária</a:t>
            </a:r>
            <a:endParaRPr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844"/>
            <a:ext cx="853440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5556175" y="2874850"/>
            <a:ext cx="733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Entidade Fraca</a:t>
            </a:r>
            <a:endParaRPr sz="2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793925" y="3784050"/>
            <a:ext cx="73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Funcionário (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Matrícula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Nome_Funcionario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Salario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Dependente(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Código, </a:t>
            </a:r>
            <a:r>
              <a:rPr lang="pt-BR" u="sng" dirty="0" err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Matrícula_funcionario</a:t>
            </a:r>
            <a:r>
              <a:rPr lang="pt-BR" u="sng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pt-BR" u="sng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dirty="0" err="1">
                <a:latin typeface="Roboto"/>
                <a:ea typeface="Roboto"/>
                <a:cs typeface="Roboto"/>
                <a:sym typeface="Roboto"/>
              </a:rPr>
              <a:t>Nome_Dedendente</a:t>
            </a:r>
            <a:r>
              <a:rPr lang="pt-BR" dirty="0">
                <a:latin typeface="Roboto"/>
                <a:ea typeface="Roboto"/>
                <a:cs typeface="Roboto"/>
                <a:sym typeface="Roboto"/>
              </a:rPr>
              <a:t>, parentesco)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4074300" y="4399650"/>
            <a:ext cx="49512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Chave estrangeira que compõe a chave primária</a:t>
            </a:r>
            <a:endParaRPr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6189" y="289624"/>
            <a:ext cx="67722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FMG 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23322</TotalTime>
  <Words>483</Words>
  <Application>Microsoft Office PowerPoint</Application>
  <PresentationFormat>Apresentação na tela (16:9)</PresentationFormat>
  <Paragraphs>70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Open Sans</vt:lpstr>
      <vt:lpstr>Roboto</vt:lpstr>
      <vt:lpstr>IFMG 1</vt:lpstr>
      <vt:lpstr>   Sistema Gerenciador de Banco de Dados</vt:lpstr>
      <vt:lpstr>Modelo Relacional</vt:lpstr>
      <vt:lpstr>Apresentação do PowerPoint</vt:lpstr>
      <vt:lpstr>Modelo Relacional – Modelo Lógico</vt:lpstr>
      <vt:lpstr>Modelo Relacional</vt:lpstr>
      <vt:lpstr>Apresentação do PowerPoint</vt:lpstr>
      <vt:lpstr>Modelo Relacional -  Primeira possibilidade</vt:lpstr>
      <vt:lpstr>Modelo Relacional -  Segunda possibilidade</vt:lpstr>
      <vt:lpstr>Modelo Relacional -  Terceira possibilidade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balanceadas</dc:title>
  <dc:creator>Cristiane Targa</dc:creator>
  <cp:lastModifiedBy>Cristiane Targa</cp:lastModifiedBy>
  <cp:revision>406</cp:revision>
  <dcterms:modified xsi:type="dcterms:W3CDTF">2026-05-18T11:53:18Z</dcterms:modified>
</cp:coreProperties>
</file>